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97648313b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9764831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97648313b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9764831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97648313b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697648313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97648313b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97648313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97648313b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97648313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97648313b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97648313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97648313b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697648313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97648313b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697648313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697648313b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697648313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97648313b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97648313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97648313b_0_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97648313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97648313b_0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97648313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97648313b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97648313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97648313b_0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97648313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97648313b_0_1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97648313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97648313b_0_1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697648313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97648313b_0_1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97648313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97648313b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97648313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97648313b_0_1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697648313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97648313b_0_1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97648313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97648313b_0_1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97648313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97648313b_0_1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697648313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97648313b_0_1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697648313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97648313b_0_1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97648313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2: Problem solving by searching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olab.research.google.com/drive/1yNb2lIKAdM1QJJCGfbB6-3WDkcTYs49w?usp=shar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4: Uninformed Search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Uninformed Search Strategies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Breadth-first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Uniform-cost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Depth-first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Depth-limited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Iterative Deepening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Bidirectional Search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Uninformed Search Strategies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 additional information about states beyond that provided in the problem definition → Blind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Breadth-first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Uniform-cost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Depth-first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Depth-limited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Iterative Deepening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Bidirectional Search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275" y="1944350"/>
            <a:ext cx="6639451" cy="40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Implementation: frontier is a FIFO queue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goal test is applied to each node when it is </a:t>
            </a:r>
            <a:r>
              <a:rPr lang="en" u="sng"/>
              <a:t>generated</a:t>
            </a:r>
            <a:r>
              <a:rPr lang="en"/>
              <a:t> rather than when it is </a:t>
            </a:r>
            <a:r>
              <a:rPr lang="en" u="sng"/>
              <a:t>selected for expansion</a:t>
            </a:r>
            <a:r>
              <a:rPr lang="en"/>
              <a:t>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Discard any new path to a state </a:t>
            </a:r>
            <a:r>
              <a:rPr lang="en" u="sng"/>
              <a:t>already in the frontier or in the explored set</a:t>
            </a:r>
            <a:r>
              <a:rPr lang="en"/>
              <a:t>.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536625"/>
            <a:ext cx="8520600" cy="49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function</a:t>
            </a:r>
            <a:r>
              <a:rPr lang="en" sz="1705"/>
              <a:t> BREADTH-FIRST-SEARCH(problem) </a:t>
            </a:r>
            <a:r>
              <a:rPr b="1" lang="en" sz="1705"/>
              <a:t>returns</a:t>
            </a:r>
            <a:r>
              <a:rPr lang="en" sz="1705"/>
              <a:t> a solution, or failure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node ← a node with STATE = problem.INITIAL-STATE, PATH-COST = 0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problem.GOAL-TEST(node.STATE) </a:t>
            </a:r>
            <a:r>
              <a:rPr b="1" lang="en" sz="1705"/>
              <a:t>then</a:t>
            </a:r>
            <a:r>
              <a:rPr lang="en" sz="1705"/>
              <a:t> </a:t>
            </a:r>
            <a:r>
              <a:rPr b="1" lang="en" sz="1705"/>
              <a:t>return</a:t>
            </a:r>
            <a:r>
              <a:rPr lang="en" sz="1705"/>
              <a:t> SOLUTION(node)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frontier ← a FIFO queue with node as the only element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explored ← an empty set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loop do</a:t>
            </a:r>
            <a:endParaRPr b="1"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EMPTY?( frontier) </a:t>
            </a:r>
            <a:r>
              <a:rPr b="1" lang="en" sz="1705"/>
              <a:t>then</a:t>
            </a:r>
            <a:r>
              <a:rPr lang="en" sz="1705"/>
              <a:t> </a:t>
            </a:r>
            <a:r>
              <a:rPr b="1" lang="en" sz="1705"/>
              <a:t>return</a:t>
            </a:r>
            <a:r>
              <a:rPr lang="en" sz="1705"/>
              <a:t> failure</a:t>
            </a:r>
            <a:endParaRPr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node ← POP(frontier)</a:t>
            </a:r>
            <a:endParaRPr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add node.STATE to explored</a:t>
            </a:r>
            <a:endParaRPr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for</a:t>
            </a:r>
            <a:r>
              <a:rPr lang="en" sz="1705"/>
              <a:t> </a:t>
            </a:r>
            <a:r>
              <a:rPr b="1" lang="en" sz="1705"/>
              <a:t>each</a:t>
            </a:r>
            <a:r>
              <a:rPr lang="en" sz="1705"/>
              <a:t> action </a:t>
            </a:r>
            <a:r>
              <a:rPr b="1" lang="en" sz="1705"/>
              <a:t>in</a:t>
            </a:r>
            <a:r>
              <a:rPr lang="en" sz="1705"/>
              <a:t> problem.ACTIONS(node.STATE) </a:t>
            </a:r>
            <a:r>
              <a:rPr b="1" lang="en" sz="1705"/>
              <a:t>do</a:t>
            </a:r>
            <a:endParaRPr b="1" sz="1705"/>
          </a:p>
          <a:p>
            <a:pPr indent="0" lvl="0" marL="1371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child ← CHILD-NODE(problem, node, action)</a:t>
            </a:r>
            <a:endParaRPr sz="1705"/>
          </a:p>
          <a:p>
            <a:pPr indent="0" lvl="0" marL="1371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child.STATE is not in explored or frontier </a:t>
            </a:r>
            <a:r>
              <a:rPr b="1" lang="en" sz="1705"/>
              <a:t>then</a:t>
            </a:r>
            <a:endParaRPr b="1" sz="1705"/>
          </a:p>
          <a:p>
            <a:pPr indent="0" lvl="0" marL="18288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problem.GOAL-TEST(child.STATE) </a:t>
            </a:r>
            <a:r>
              <a:rPr b="1" lang="en" sz="1705"/>
              <a:t>then</a:t>
            </a:r>
            <a:r>
              <a:rPr lang="en" sz="1705"/>
              <a:t> </a:t>
            </a:r>
            <a:endParaRPr sz="1705"/>
          </a:p>
          <a:p>
            <a:pPr indent="457200" lvl="0" marL="18288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return</a:t>
            </a:r>
            <a:r>
              <a:rPr lang="en" sz="1705"/>
              <a:t> SOLUTION(child) </a:t>
            </a:r>
            <a:endParaRPr sz="1705"/>
          </a:p>
          <a:p>
            <a:pPr indent="0" lvl="0" marL="18288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frontier ← INSERT(child, frontier)</a:t>
            </a:r>
            <a:endParaRPr sz="1705"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 S → 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Write down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Nodes at the same level are handled in the </a:t>
            </a:r>
            <a:r>
              <a:rPr lang="en"/>
              <a:t>alphabetic</a:t>
            </a:r>
            <a:r>
              <a:rPr lang="en"/>
              <a:t> order</a:t>
            </a:r>
            <a:endParaRPr/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813" y="2909150"/>
            <a:ext cx="6102374" cy="37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88" y="1782063"/>
            <a:ext cx="3286125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538" y="1820167"/>
            <a:ext cx="33432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YES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O(b</a:t>
            </a:r>
            <a:r>
              <a:rPr baseline="30000" lang="en"/>
              <a:t>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</a:t>
            </a:r>
            <a:r>
              <a:rPr lang="en"/>
              <a:t>O(b</a:t>
            </a:r>
            <a:r>
              <a:rPr baseline="30000" lang="en"/>
              <a:t>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YES if costs are uniform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Terms: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b: maximal branching factor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d: level/depth of the solution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m: height of the search tree</a:t>
            </a:r>
            <a:endParaRPr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UCS expands the node 𝑛 with the lowest path cost 𝑔(𝑛)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Implementation: frontier is a priority queue ordered by 𝑔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Equivalent to breadth-first search if step costs all equal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Equivalent to Dijkstra’s algorithm in general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goal test is applied to a node when it is s</a:t>
            </a:r>
            <a:r>
              <a:rPr lang="en" u="sng"/>
              <a:t>elected for expansion.</a:t>
            </a:r>
            <a:endParaRPr u="sng"/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536624"/>
            <a:ext cx="8520600" cy="51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function</a:t>
            </a:r>
            <a:r>
              <a:rPr lang="en" sz="1575"/>
              <a:t> UNIFORM-COST-SEARCH(problem) </a:t>
            </a:r>
            <a:r>
              <a:rPr b="1" lang="en" sz="1575"/>
              <a:t>returns</a:t>
            </a:r>
            <a:r>
              <a:rPr lang="en" sz="1575"/>
              <a:t> a solution, or failure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node ← a node with STATE = problem.INITIAL-STATE, PATH-COST = 0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frontier ← a priority queue ordered by PATH-COST, with node as the element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explored ← an empty set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loop do</a:t>
            </a:r>
            <a:endParaRPr b="1"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if</a:t>
            </a:r>
            <a:r>
              <a:rPr lang="en" sz="1575"/>
              <a:t> EMPTY?( frontier) </a:t>
            </a:r>
            <a:r>
              <a:rPr b="1" lang="en" sz="1575"/>
              <a:t>then</a:t>
            </a:r>
            <a:r>
              <a:rPr lang="en" sz="1575"/>
              <a:t> return failure</a:t>
            </a:r>
            <a:endParaRPr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node ← POP(frontier) </a:t>
            </a:r>
            <a:endParaRPr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if</a:t>
            </a:r>
            <a:r>
              <a:rPr lang="en" sz="1575"/>
              <a:t> problem.GOAL-TEST(node.STATE) </a:t>
            </a:r>
            <a:r>
              <a:rPr b="1" lang="en" sz="1575"/>
              <a:t>then</a:t>
            </a:r>
            <a:r>
              <a:rPr lang="en" sz="1575"/>
              <a:t> </a:t>
            </a:r>
            <a:r>
              <a:rPr b="1" lang="en" sz="1575"/>
              <a:t>return</a:t>
            </a:r>
            <a:r>
              <a:rPr lang="en" sz="1575"/>
              <a:t> SOLUTION(node)</a:t>
            </a:r>
            <a:endParaRPr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add node.STATE to explored</a:t>
            </a:r>
            <a:endParaRPr sz="1575"/>
          </a:p>
          <a:p>
            <a:pPr indent="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for</a:t>
            </a:r>
            <a:r>
              <a:rPr lang="en" sz="1575"/>
              <a:t> </a:t>
            </a:r>
            <a:r>
              <a:rPr b="1" lang="en" sz="1575"/>
              <a:t>each</a:t>
            </a:r>
            <a:r>
              <a:rPr lang="en" sz="1575"/>
              <a:t> action </a:t>
            </a:r>
            <a:r>
              <a:rPr b="1" lang="en" sz="1575"/>
              <a:t>in</a:t>
            </a:r>
            <a:r>
              <a:rPr lang="en" sz="1575"/>
              <a:t> problem.ACTIONS(node.STATE) </a:t>
            </a:r>
            <a:r>
              <a:rPr b="1" lang="en" sz="1575"/>
              <a:t>do</a:t>
            </a:r>
            <a:endParaRPr b="1" sz="1575"/>
          </a:p>
          <a:p>
            <a:pPr indent="45720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child ← CHILD-NODE(problem, node, action)</a:t>
            </a:r>
            <a:endParaRPr sz="1575"/>
          </a:p>
          <a:p>
            <a:pPr indent="45720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if</a:t>
            </a:r>
            <a:r>
              <a:rPr lang="en" sz="1575"/>
              <a:t> child.STATE is not in explored or frontier </a:t>
            </a:r>
            <a:r>
              <a:rPr b="1" lang="en" sz="1575"/>
              <a:t>then</a:t>
            </a:r>
            <a:endParaRPr b="1" sz="1575"/>
          </a:p>
          <a:p>
            <a:pPr indent="457200" lvl="0" marL="13716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frontier ← INSERT(child, frontier)</a:t>
            </a:r>
            <a:endParaRPr sz="1575"/>
          </a:p>
          <a:p>
            <a:pPr indent="45720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else if</a:t>
            </a:r>
            <a:r>
              <a:rPr lang="en" sz="1575"/>
              <a:t> child.STATE is in frontier with higher PATH-COST </a:t>
            </a:r>
            <a:r>
              <a:rPr b="1" lang="en" sz="1575"/>
              <a:t>then</a:t>
            </a:r>
            <a:endParaRPr b="1" sz="1575"/>
          </a:p>
          <a:p>
            <a:pPr indent="457200" lvl="0" marL="1371600" rtl="0" algn="just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575"/>
              <a:t>replace that frontier node with child</a:t>
            </a:r>
            <a:endParaRPr sz="1575"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 S → 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Write down the path</a:t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763" y="2483250"/>
            <a:ext cx="6704475" cy="3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path: S → d → e → r → f → G, cost = 10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2249" y="2271925"/>
            <a:ext cx="2959500" cy="42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YES if the best solution has a finite cost and minimum arc cost is positive.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𝑂(𝑏</a:t>
            </a:r>
            <a:r>
              <a:rPr baseline="30000" lang="en"/>
              <a:t>1+ 𝐶∗/𝜖 </a:t>
            </a:r>
            <a:r>
              <a:rPr lang="en"/>
              <a:t>)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𝐶∗ </a:t>
            </a:r>
            <a:r>
              <a:rPr lang="en"/>
              <a:t>: the cost of the best solution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𝜖 </a:t>
            </a:r>
            <a:r>
              <a:rPr lang="en"/>
              <a:t>: </a:t>
            </a:r>
            <a:r>
              <a:rPr lang="en"/>
              <a:t>minimal</a:t>
            </a:r>
            <a:r>
              <a:rPr lang="en"/>
              <a:t> action cost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</a:t>
            </a:r>
            <a:r>
              <a:rPr lang="en"/>
              <a:t>𝑂(𝑏</a:t>
            </a:r>
            <a:r>
              <a:rPr baseline="30000" lang="en"/>
              <a:t>1+ 𝐶∗/𝜖 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YES</a:t>
            </a:r>
            <a:endParaRPr/>
          </a:p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Depth-first Search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Implementation: frontier is a LIFO Stack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YES if loops prevented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𝑂(𝑏</a:t>
            </a:r>
            <a:r>
              <a:rPr baseline="30000" lang="en"/>
              <a:t>𝑚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𝑂(𝑏𝑚)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NO</a:t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Depth-first Search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 S → 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Write down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Nodes at the same level are handled in the alphabetic order</a:t>
            </a:r>
            <a:endParaRPr/>
          </a:p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813" y="2909150"/>
            <a:ext cx="6102374" cy="37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Depth-limited Search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Standard DFS with a predetermined depth limit 𝑙, i.e., nodes at depth 𝑙 are treated as if they have no successors.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infinite problems solved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Depth limits can be based on knowledge of the problem.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Depth-limited Search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536626"/>
            <a:ext cx="8520600" cy="10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function</a:t>
            </a:r>
            <a:r>
              <a:rPr lang="en"/>
              <a:t> DEPTH-LIMITED-SEARCH(problem, limit) </a:t>
            </a:r>
            <a:r>
              <a:rPr b="1" lang="en"/>
              <a:t>returns</a:t>
            </a:r>
            <a:r>
              <a:rPr lang="en"/>
              <a:t> a solution, or failure/cutoff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return</a:t>
            </a:r>
            <a:r>
              <a:rPr lang="en"/>
              <a:t> RECURSIVE-DLS(MAKE-NODE(problem.INITIAL-STATE), problem, limit)</a:t>
            </a:r>
            <a:endParaRPr/>
          </a:p>
        </p:txBody>
      </p:sp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2557225"/>
            <a:ext cx="8520600" cy="40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740"/>
              <a:t>function</a:t>
            </a:r>
            <a:r>
              <a:rPr lang="en" sz="1740"/>
              <a:t> RECURSIVE-DLS(node, problem, limit) </a:t>
            </a:r>
            <a:r>
              <a:rPr b="1" lang="en" sz="1740"/>
              <a:t>returns</a:t>
            </a:r>
            <a:r>
              <a:rPr lang="en" sz="1740"/>
              <a:t> a solution, or failure/cutoff</a:t>
            </a:r>
            <a:endParaRPr sz="1740"/>
          </a:p>
          <a:p>
            <a:pPr indent="45720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740"/>
              <a:t>if</a:t>
            </a:r>
            <a:r>
              <a:rPr lang="en" sz="1740"/>
              <a:t> problem.GOAL-TEST(node.STATE)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SOLUTION(node) </a:t>
            </a:r>
            <a:endParaRPr sz="1740"/>
          </a:p>
          <a:p>
            <a:pPr indent="45720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else</a:t>
            </a:r>
            <a:r>
              <a:rPr lang="en" sz="1740"/>
              <a:t> </a:t>
            </a:r>
            <a:r>
              <a:rPr b="1" lang="en" sz="1740"/>
              <a:t>if</a:t>
            </a:r>
            <a:r>
              <a:rPr lang="en" sz="1740"/>
              <a:t> limit = 0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cutoff</a:t>
            </a:r>
            <a:endParaRPr sz="1740"/>
          </a:p>
          <a:p>
            <a:pPr indent="45720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else</a:t>
            </a:r>
            <a:r>
              <a:rPr lang="en" sz="1740"/>
              <a:t> cutoff_occurred? ← false</a:t>
            </a:r>
            <a:endParaRPr sz="1740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for each</a:t>
            </a:r>
            <a:r>
              <a:rPr lang="en" sz="1740"/>
              <a:t> action </a:t>
            </a:r>
            <a:r>
              <a:rPr b="1" lang="en" sz="1740"/>
              <a:t>in</a:t>
            </a:r>
            <a:r>
              <a:rPr lang="en" sz="1740"/>
              <a:t> problem.ACTIONS(node.STATE) </a:t>
            </a:r>
            <a:r>
              <a:rPr b="1" lang="en" sz="1740"/>
              <a:t>do</a:t>
            </a:r>
            <a:endParaRPr b="1"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40"/>
              <a:t>child ← CHILD-NODE(problem, node, action)</a:t>
            </a:r>
            <a:endParaRPr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40"/>
              <a:t>result ← RECURSIVE-DLS(child, problem, limit – 1) </a:t>
            </a:r>
            <a:endParaRPr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if</a:t>
            </a:r>
            <a:r>
              <a:rPr lang="en" sz="1740"/>
              <a:t> result = cutoff </a:t>
            </a:r>
            <a:r>
              <a:rPr b="1" lang="en" sz="1740"/>
              <a:t>then</a:t>
            </a:r>
            <a:r>
              <a:rPr lang="en" sz="1740"/>
              <a:t> cutoff_occurred? ← true</a:t>
            </a:r>
            <a:endParaRPr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else</a:t>
            </a:r>
            <a:r>
              <a:rPr lang="en" sz="1740"/>
              <a:t> </a:t>
            </a:r>
            <a:r>
              <a:rPr b="1" lang="en" sz="1740"/>
              <a:t>if</a:t>
            </a:r>
            <a:r>
              <a:rPr lang="en" sz="1740"/>
              <a:t> result != failure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result</a:t>
            </a:r>
            <a:endParaRPr sz="1740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1740"/>
              <a:t>if</a:t>
            </a:r>
            <a:r>
              <a:rPr lang="en" sz="1740"/>
              <a:t> cutoff_occurred?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cutoff </a:t>
            </a:r>
            <a:r>
              <a:rPr b="1" lang="en" sz="1740"/>
              <a:t>else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failure</a:t>
            </a:r>
            <a:endParaRPr sz="17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Depth-limited Search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maybe NO if</a:t>
            </a:r>
            <a:r>
              <a:rPr i="1" lang="en"/>
              <a:t> l</a:t>
            </a:r>
            <a:r>
              <a:rPr lang="en"/>
              <a:t> &lt; </a:t>
            </a:r>
            <a:r>
              <a:rPr i="1" lang="en"/>
              <a:t>d</a:t>
            </a:r>
            <a:endParaRPr i="1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O(</a:t>
            </a:r>
            <a:r>
              <a:rPr i="1" lang="en"/>
              <a:t>b</a:t>
            </a:r>
            <a:r>
              <a:rPr baseline="30000" i="1" lang="en"/>
              <a:t>l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O(</a:t>
            </a:r>
            <a:r>
              <a:rPr i="1" lang="en"/>
              <a:t>bl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NO if </a:t>
            </a:r>
            <a:r>
              <a:rPr i="1" lang="en"/>
              <a:t>l &gt; d</a:t>
            </a:r>
            <a:endParaRPr i="1"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536631"/>
            <a:ext cx="8520600" cy="13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General strategy, often used in combination with depth-first tree search to find the best depth limit.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Gradually increase the limit until a goal is found.</a:t>
            </a:r>
            <a:endParaRPr/>
          </a:p>
        </p:txBody>
      </p:sp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3107900"/>
            <a:ext cx="8520600" cy="21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function</a:t>
            </a:r>
            <a:r>
              <a:rPr lang="en" sz="1700"/>
              <a:t> ITERATIVE-DEEPENING-SEARCH(problem) </a:t>
            </a:r>
            <a:r>
              <a:rPr b="1" lang="en" sz="1700"/>
              <a:t>returns</a:t>
            </a:r>
            <a:r>
              <a:rPr lang="en" sz="1700"/>
              <a:t> a solution, or failure</a:t>
            </a:r>
            <a:endParaRPr sz="1700"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for</a:t>
            </a:r>
            <a:r>
              <a:rPr lang="en" sz="1700"/>
              <a:t> depth = 0 </a:t>
            </a:r>
            <a:r>
              <a:rPr b="1" lang="en" sz="1700"/>
              <a:t>to</a:t>
            </a:r>
            <a:r>
              <a:rPr lang="en" sz="1700"/>
              <a:t> ∞ </a:t>
            </a:r>
            <a:r>
              <a:rPr b="1" lang="en" sz="1700"/>
              <a:t>do</a:t>
            </a:r>
            <a:endParaRPr b="1" sz="1700"/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result ← DEPTH-LIMITED-SEARCH(problem, depth)</a:t>
            </a:r>
            <a:endParaRPr sz="1700"/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if</a:t>
            </a:r>
            <a:r>
              <a:rPr lang="en" sz="1700"/>
              <a:t> result != cutoff </a:t>
            </a:r>
            <a:r>
              <a:rPr b="1" lang="en" sz="1700"/>
              <a:t>then</a:t>
            </a:r>
            <a:r>
              <a:rPr lang="en" sz="1700"/>
              <a:t> </a:t>
            </a:r>
            <a:r>
              <a:rPr b="1" lang="en" sz="1700"/>
              <a:t>return</a:t>
            </a:r>
            <a:r>
              <a:rPr lang="en" sz="1700"/>
              <a:t> result</a:t>
            </a:r>
            <a:endParaRPr sz="1700"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35919"/>
            <a:ext cx="8520600" cy="4536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16" name="Google Shape;2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37" y="1967150"/>
            <a:ext cx="8143924" cy="39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</a:t>
            </a:r>
            <a:r>
              <a:rPr lang="en"/>
              <a:t>YES when the branching factor is finite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</a:t>
            </a:r>
            <a:r>
              <a:rPr lang="en"/>
              <a:t>O(</a:t>
            </a:r>
            <a:r>
              <a:rPr i="1" lang="en"/>
              <a:t>b</a:t>
            </a:r>
            <a:r>
              <a:rPr baseline="30000" i="1" lang="en"/>
              <a:t>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O(</a:t>
            </a:r>
            <a:r>
              <a:rPr i="1" lang="en"/>
              <a:t>bd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YES if costs are uniform</a:t>
            </a:r>
            <a:endParaRPr/>
          </a:p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Bidirectional Search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Two simultaneous searches: one from the initial state towards, and the other from the goal state backwards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Hoping that two searches meet in the middle</a:t>
            </a:r>
            <a:endParaRPr/>
          </a:p>
        </p:txBody>
      </p:sp>
      <p:sp>
        <p:nvSpPr>
          <p:cNvPr id="230" name="Google Shape;230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75" y="2922275"/>
            <a:ext cx="6829425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Comparison of uninformed algorithms (</a:t>
            </a:r>
            <a:r>
              <a:rPr b="1" lang="en">
                <a:solidFill>
                  <a:srgbClr val="FF0000"/>
                </a:solidFill>
              </a:rPr>
              <a:t>tree-search</a:t>
            </a:r>
            <a:r>
              <a:rPr lang="en"/>
              <a:t> versions)</a:t>
            </a:r>
            <a:endParaRPr/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50559"/>
            <a:ext cx="9143999" cy="3327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r>
              <a:rPr lang="en"/>
              <a:t>.</a:t>
            </a:r>
            <a:endParaRPr/>
          </a:p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253" name="Google Shape;253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